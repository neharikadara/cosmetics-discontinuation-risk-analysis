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85" r:id="rId6"/>
    <p:sldId id="278" r:id="rId7"/>
    <p:sldId id="289" r:id="rId8"/>
    <p:sldId id="290" r:id="rId9"/>
    <p:sldId id="291" r:id="rId10"/>
    <p:sldId id="294" r:id="rId11"/>
    <p:sldId id="293" r:id="rId12"/>
    <p:sldId id="296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BEB9AA"/>
    <a:srgbClr val="C0C9C2"/>
    <a:srgbClr val="AA9D92"/>
    <a:srgbClr val="F2F1EE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7" autoAdjust="0"/>
    <p:restoredTop sz="93627" autoAdjust="0"/>
  </p:normalViewPr>
  <p:slideViewPr>
    <p:cSldViewPr snapToGrid="0">
      <p:cViewPr varScale="1">
        <p:scale>
          <a:sx n="106" d="100"/>
          <a:sy n="106" d="100"/>
        </p:scale>
        <p:origin x="776" y="184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241462-67B4-46D4-9E1A-5EA2180DE3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AF3024-7BA5-4A3F-9F7A-9CF6904F7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cosmetics industry faces growing pressure to ensure ingredient safety and transparency. </a:t>
          </a:r>
        </a:p>
      </dgm:t>
    </dgm:pt>
    <dgm:pt modelId="{01BC76AD-F418-433F-8DD4-5AF87F4A755E}" type="parTrans" cxnId="{D953712C-621A-44AD-90EA-BFF2AA87C714}">
      <dgm:prSet/>
      <dgm:spPr/>
      <dgm:t>
        <a:bodyPr/>
        <a:lstStyle/>
        <a:p>
          <a:endParaRPr lang="en-US"/>
        </a:p>
      </dgm:t>
    </dgm:pt>
    <dgm:pt modelId="{2273F014-71C5-4B54-A1BD-971FA2A6D346}" type="sibTrans" cxnId="{D953712C-621A-44AD-90EA-BFF2AA87C7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B8714A5-811D-45BA-86FA-F7C72A15F8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California Safe Cosmetics Program (CSCP) dataset tracks cosmetic products sold in California – including each product’s brand, category, ingredients (chemical names and CAS numbers), and whether it has been discontinued. </a:t>
          </a:r>
        </a:p>
      </dgm:t>
    </dgm:pt>
    <dgm:pt modelId="{B756A5CF-C111-4AC3-A4C1-D6F3A0F22233}" type="parTrans" cxnId="{3F7C9FEE-D732-4928-8AF7-E6BB5B954EAC}">
      <dgm:prSet/>
      <dgm:spPr/>
      <dgm:t>
        <a:bodyPr/>
        <a:lstStyle/>
        <a:p>
          <a:endParaRPr lang="en-US"/>
        </a:p>
      </dgm:t>
    </dgm:pt>
    <dgm:pt modelId="{6A01D9F2-207F-4CE9-A60E-77C20C199268}" type="sibTrans" cxnId="{3F7C9FEE-D732-4928-8AF7-E6BB5B954E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5AC0FF-ACD7-433F-98F5-E52C8EBBA6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goal is to use CSCP data to uncover why products are discontinued (safety/compliance issues) by identifying patterns linked to brand, category, or chemical composition. </a:t>
          </a:r>
        </a:p>
      </dgm:t>
    </dgm:pt>
    <dgm:pt modelId="{8F96A003-E2F1-4CE5-A22E-0D2873785CFA}" type="parTrans" cxnId="{1187B2E4-0AD6-46C2-8C0B-7458096855F7}">
      <dgm:prSet/>
      <dgm:spPr/>
      <dgm:t>
        <a:bodyPr/>
        <a:lstStyle/>
        <a:p>
          <a:endParaRPr lang="en-US"/>
        </a:p>
      </dgm:t>
    </dgm:pt>
    <dgm:pt modelId="{96A76A0D-C899-4C6D-BE18-A9B2B146D2C1}" type="sibTrans" cxnId="{1187B2E4-0AD6-46C2-8C0B-7458096855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4037F9-309B-48F2-93CE-8CD0E34CC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business questions: Which product features drive discontinuation? Which brands or product categories have higher adjusted discontinuation risk? Which ingredients (chemicals/CAS IDs) are most associated with discontinued products. </a:t>
          </a:r>
        </a:p>
      </dgm:t>
    </dgm:pt>
    <dgm:pt modelId="{86E1947B-947D-45A9-9444-444BD8033DC7}" type="parTrans" cxnId="{968153E8-2B52-4987-B588-F83F8BD79C08}">
      <dgm:prSet/>
      <dgm:spPr/>
      <dgm:t>
        <a:bodyPr/>
        <a:lstStyle/>
        <a:p>
          <a:endParaRPr lang="en-US"/>
        </a:p>
      </dgm:t>
    </dgm:pt>
    <dgm:pt modelId="{CEEBAE5E-EB9C-4A95-B000-F97B9EA3227B}" type="sibTrans" cxnId="{968153E8-2B52-4987-B588-F83F8BD79C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F1604F-EA91-44FB-B925-72D6223A47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Insights will help manufacturers, regulators, and consumers make data-driven safety decisions (proactive reformulation, targeted inspections, transparent labeling).</a:t>
          </a:r>
        </a:p>
      </dgm:t>
    </dgm:pt>
    <dgm:pt modelId="{BD13E371-D9E0-46D4-986D-1980C022784E}" type="parTrans" cxnId="{C2663F83-BCFF-4758-A0C0-DB19707646F5}">
      <dgm:prSet/>
      <dgm:spPr/>
      <dgm:t>
        <a:bodyPr/>
        <a:lstStyle/>
        <a:p>
          <a:endParaRPr lang="en-US"/>
        </a:p>
      </dgm:t>
    </dgm:pt>
    <dgm:pt modelId="{0C2CBE42-A7ED-4ECD-B65B-9A8E1A8AA742}" type="sibTrans" cxnId="{C2663F83-BCFF-4758-A0C0-DB19707646F5}">
      <dgm:prSet/>
      <dgm:spPr/>
      <dgm:t>
        <a:bodyPr/>
        <a:lstStyle/>
        <a:p>
          <a:endParaRPr lang="en-US"/>
        </a:p>
      </dgm:t>
    </dgm:pt>
    <dgm:pt modelId="{597254DD-6547-F241-833E-F9F3D2D696E7}" type="pres">
      <dgm:prSet presAssocID="{C1241462-67B4-46D4-9E1A-5EA2180DE366}" presName="linear" presStyleCnt="0">
        <dgm:presLayoutVars>
          <dgm:animLvl val="lvl"/>
          <dgm:resizeHandles val="exact"/>
        </dgm:presLayoutVars>
      </dgm:prSet>
      <dgm:spPr/>
    </dgm:pt>
    <dgm:pt modelId="{FAD30A03-94D6-584E-B909-4991E963FA11}" type="pres">
      <dgm:prSet presAssocID="{E1AF3024-7BA5-4A3F-9F7A-9CF6904F7BB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55A8F68-8B1D-4D4C-AD99-608D67062784}" type="pres">
      <dgm:prSet presAssocID="{2273F014-71C5-4B54-A1BD-971FA2A6D346}" presName="spacer" presStyleCnt="0"/>
      <dgm:spPr/>
    </dgm:pt>
    <dgm:pt modelId="{639C1119-BD5D-3D45-B16C-BDF806784798}" type="pres">
      <dgm:prSet presAssocID="{3B8714A5-811D-45BA-86FA-F7C72A15F8E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258E3E-EA7C-D948-A815-F6CF3B06B8AE}" type="pres">
      <dgm:prSet presAssocID="{6A01D9F2-207F-4CE9-A60E-77C20C199268}" presName="spacer" presStyleCnt="0"/>
      <dgm:spPr/>
    </dgm:pt>
    <dgm:pt modelId="{F4236C11-22CF-9C42-AD9D-C7CE65CC2966}" type="pres">
      <dgm:prSet presAssocID="{395AC0FF-ACD7-433F-98F5-E52C8EBBA68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919704B-8625-6547-B0EF-86ACFB1FD14A}" type="pres">
      <dgm:prSet presAssocID="{96A76A0D-C899-4C6D-BE18-A9B2B146D2C1}" presName="spacer" presStyleCnt="0"/>
      <dgm:spPr/>
    </dgm:pt>
    <dgm:pt modelId="{D1BBE708-8686-6B45-9D8F-E5453E220379}" type="pres">
      <dgm:prSet presAssocID="{8B4037F9-309B-48F2-93CE-8CD0E34CCC5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D90A3AF-3DA1-904A-B7D8-8BDCA3686D9C}" type="pres">
      <dgm:prSet presAssocID="{CEEBAE5E-EB9C-4A95-B000-F97B9EA3227B}" presName="spacer" presStyleCnt="0"/>
      <dgm:spPr/>
    </dgm:pt>
    <dgm:pt modelId="{DB6EB0AD-EAA8-9247-929C-023D8E77C555}" type="pres">
      <dgm:prSet presAssocID="{DCF1604F-EA91-44FB-B925-72D6223A47A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953712C-621A-44AD-90EA-BFF2AA87C714}" srcId="{C1241462-67B4-46D4-9E1A-5EA2180DE366}" destId="{E1AF3024-7BA5-4A3F-9F7A-9CF6904F7BBF}" srcOrd="0" destOrd="0" parTransId="{01BC76AD-F418-433F-8DD4-5AF87F4A755E}" sibTransId="{2273F014-71C5-4B54-A1BD-971FA2A6D346}"/>
    <dgm:cxn modelId="{4249312D-8FD4-2C43-9910-F3488266911B}" type="presOf" srcId="{8B4037F9-309B-48F2-93CE-8CD0E34CCC53}" destId="{D1BBE708-8686-6B45-9D8F-E5453E220379}" srcOrd="0" destOrd="0" presId="urn:microsoft.com/office/officeart/2005/8/layout/vList2"/>
    <dgm:cxn modelId="{ACFCE649-907E-7C43-9ABC-7C2C2B2B72B8}" type="presOf" srcId="{395AC0FF-ACD7-433F-98F5-E52C8EBBA687}" destId="{F4236C11-22CF-9C42-AD9D-C7CE65CC2966}" srcOrd="0" destOrd="0" presId="urn:microsoft.com/office/officeart/2005/8/layout/vList2"/>
    <dgm:cxn modelId="{C2663F83-BCFF-4758-A0C0-DB19707646F5}" srcId="{C1241462-67B4-46D4-9E1A-5EA2180DE366}" destId="{DCF1604F-EA91-44FB-B925-72D6223A47A2}" srcOrd="4" destOrd="0" parTransId="{BD13E371-D9E0-46D4-986D-1980C022784E}" sibTransId="{0C2CBE42-A7ED-4ECD-B65B-9A8E1A8AA742}"/>
    <dgm:cxn modelId="{F28D1489-ED69-C04D-A212-B44FE0F6CC98}" type="presOf" srcId="{C1241462-67B4-46D4-9E1A-5EA2180DE366}" destId="{597254DD-6547-F241-833E-F9F3D2D696E7}" srcOrd="0" destOrd="0" presId="urn:microsoft.com/office/officeart/2005/8/layout/vList2"/>
    <dgm:cxn modelId="{585655BA-FF42-DE4E-928E-E393AAEC9BC1}" type="presOf" srcId="{3B8714A5-811D-45BA-86FA-F7C72A15F8E2}" destId="{639C1119-BD5D-3D45-B16C-BDF806784798}" srcOrd="0" destOrd="0" presId="urn:microsoft.com/office/officeart/2005/8/layout/vList2"/>
    <dgm:cxn modelId="{1187B2E4-0AD6-46C2-8C0B-7458096855F7}" srcId="{C1241462-67B4-46D4-9E1A-5EA2180DE366}" destId="{395AC0FF-ACD7-433F-98F5-E52C8EBBA687}" srcOrd="2" destOrd="0" parTransId="{8F96A003-E2F1-4CE5-A22E-0D2873785CFA}" sibTransId="{96A76A0D-C899-4C6D-BE18-A9B2B146D2C1}"/>
    <dgm:cxn modelId="{968153E8-2B52-4987-B588-F83F8BD79C08}" srcId="{C1241462-67B4-46D4-9E1A-5EA2180DE366}" destId="{8B4037F9-309B-48F2-93CE-8CD0E34CCC53}" srcOrd="3" destOrd="0" parTransId="{86E1947B-947D-45A9-9444-444BD8033DC7}" sibTransId="{CEEBAE5E-EB9C-4A95-B000-F97B9EA3227B}"/>
    <dgm:cxn modelId="{6D1A09ED-6B20-2340-9807-44B942463115}" type="presOf" srcId="{DCF1604F-EA91-44FB-B925-72D6223A47A2}" destId="{DB6EB0AD-EAA8-9247-929C-023D8E77C555}" srcOrd="0" destOrd="0" presId="urn:microsoft.com/office/officeart/2005/8/layout/vList2"/>
    <dgm:cxn modelId="{3F7C9FEE-D732-4928-8AF7-E6BB5B954EAC}" srcId="{C1241462-67B4-46D4-9E1A-5EA2180DE366}" destId="{3B8714A5-811D-45BA-86FA-F7C72A15F8E2}" srcOrd="1" destOrd="0" parTransId="{B756A5CF-C111-4AC3-A4C1-D6F3A0F22233}" sibTransId="{6A01D9F2-207F-4CE9-A60E-77C20C199268}"/>
    <dgm:cxn modelId="{C6C15AF6-26E9-8B4E-A393-A20C855E7D4F}" type="presOf" srcId="{E1AF3024-7BA5-4A3F-9F7A-9CF6904F7BBF}" destId="{FAD30A03-94D6-584E-B909-4991E963FA11}" srcOrd="0" destOrd="0" presId="urn:microsoft.com/office/officeart/2005/8/layout/vList2"/>
    <dgm:cxn modelId="{F5E191CE-87D6-8D44-B5D8-604BAAFDD56C}" type="presParOf" srcId="{597254DD-6547-F241-833E-F9F3D2D696E7}" destId="{FAD30A03-94D6-584E-B909-4991E963FA11}" srcOrd="0" destOrd="0" presId="urn:microsoft.com/office/officeart/2005/8/layout/vList2"/>
    <dgm:cxn modelId="{C6CD4115-F241-F746-8CD7-D9E0CD127E5A}" type="presParOf" srcId="{597254DD-6547-F241-833E-F9F3D2D696E7}" destId="{C55A8F68-8B1D-4D4C-AD99-608D67062784}" srcOrd="1" destOrd="0" presId="urn:microsoft.com/office/officeart/2005/8/layout/vList2"/>
    <dgm:cxn modelId="{345E9F95-396F-C14F-A98A-8AA373BE4D54}" type="presParOf" srcId="{597254DD-6547-F241-833E-F9F3D2D696E7}" destId="{639C1119-BD5D-3D45-B16C-BDF806784798}" srcOrd="2" destOrd="0" presId="urn:microsoft.com/office/officeart/2005/8/layout/vList2"/>
    <dgm:cxn modelId="{A783C8CC-72D4-6347-832E-93F270F120F1}" type="presParOf" srcId="{597254DD-6547-F241-833E-F9F3D2D696E7}" destId="{69258E3E-EA7C-D948-A815-F6CF3B06B8AE}" srcOrd="3" destOrd="0" presId="urn:microsoft.com/office/officeart/2005/8/layout/vList2"/>
    <dgm:cxn modelId="{6AB79FAC-2B68-904B-BDCB-D49DDD70A686}" type="presParOf" srcId="{597254DD-6547-F241-833E-F9F3D2D696E7}" destId="{F4236C11-22CF-9C42-AD9D-C7CE65CC2966}" srcOrd="4" destOrd="0" presId="urn:microsoft.com/office/officeart/2005/8/layout/vList2"/>
    <dgm:cxn modelId="{A6894EF1-32C4-6547-AFB5-F83B8D35DF7F}" type="presParOf" srcId="{597254DD-6547-F241-833E-F9F3D2D696E7}" destId="{F919704B-8625-6547-B0EF-86ACFB1FD14A}" srcOrd="5" destOrd="0" presId="urn:microsoft.com/office/officeart/2005/8/layout/vList2"/>
    <dgm:cxn modelId="{34B99716-612A-A34F-BFD5-10791FBD4BBF}" type="presParOf" srcId="{597254DD-6547-F241-833E-F9F3D2D696E7}" destId="{D1BBE708-8686-6B45-9D8F-E5453E220379}" srcOrd="6" destOrd="0" presId="urn:microsoft.com/office/officeart/2005/8/layout/vList2"/>
    <dgm:cxn modelId="{EC237929-EAB6-C24D-9C0C-A48ED8D485A3}" type="presParOf" srcId="{597254DD-6547-F241-833E-F9F3D2D696E7}" destId="{5D90A3AF-3DA1-904A-B7D8-8BDCA3686D9C}" srcOrd="7" destOrd="0" presId="urn:microsoft.com/office/officeart/2005/8/layout/vList2"/>
    <dgm:cxn modelId="{9B0DE380-5A0A-4E43-A117-FE5535376BF5}" type="presParOf" srcId="{597254DD-6547-F241-833E-F9F3D2D696E7}" destId="{DB6EB0AD-EAA8-9247-929C-023D8E77C55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3B7023-C4D8-4423-ABB1-45AE1A419F30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A47184-8F08-4720-B329-F5235EA767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predictive models (Logistic Regression, Random Forest, XGBoost) to estimate each product’s likelihood of discontinuation. </a:t>
          </a:r>
        </a:p>
      </dgm:t>
    </dgm:pt>
    <dgm:pt modelId="{A816838C-7B98-4827-919D-3FA0AAA6CFFB}" type="parTrans" cxnId="{D0AFF256-8CEE-4C1C-B718-E25F6A3DD14B}">
      <dgm:prSet/>
      <dgm:spPr/>
      <dgm:t>
        <a:bodyPr/>
        <a:lstStyle/>
        <a:p>
          <a:endParaRPr lang="en-US"/>
        </a:p>
      </dgm:t>
    </dgm:pt>
    <dgm:pt modelId="{E51CB715-39CD-4BC0-96DC-854EE06F25C1}" type="sibTrans" cxnId="{D0AFF256-8CEE-4C1C-B718-E25F6A3DD14B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CA9B860F-C127-4469-80D6-AE549F27D5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 Brand &amp; Category Safety Index that ranks brands/categories by their adjusted discontinuation risk. </a:t>
          </a:r>
        </a:p>
      </dgm:t>
    </dgm:pt>
    <dgm:pt modelId="{B7099340-AC1B-493D-9949-139465D11216}" type="parTrans" cxnId="{1121F58A-04CA-489E-94E1-282B32311002}">
      <dgm:prSet/>
      <dgm:spPr/>
      <dgm:t>
        <a:bodyPr/>
        <a:lstStyle/>
        <a:p>
          <a:endParaRPr lang="en-US"/>
        </a:p>
      </dgm:t>
    </dgm:pt>
    <dgm:pt modelId="{5C8A14FD-3BED-4D52-ADC2-167074F62322}" type="sibTrans" cxnId="{1121F58A-04CA-489E-94E1-282B32311002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686B65E1-8CA0-4794-AF9C-FCE527249D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high-impact chemicals and CAS-level patterns that contribute to product removals. </a:t>
          </a:r>
        </a:p>
      </dgm:t>
    </dgm:pt>
    <dgm:pt modelId="{7F1CDB66-389C-411B-B152-F546C5A270D8}" type="parTrans" cxnId="{83DD1521-4730-4C72-B9DC-97DB5308C2AD}">
      <dgm:prSet/>
      <dgm:spPr/>
      <dgm:t>
        <a:bodyPr/>
        <a:lstStyle/>
        <a:p>
          <a:endParaRPr lang="en-US"/>
        </a:p>
      </dgm:t>
    </dgm:pt>
    <dgm:pt modelId="{B1F425F2-CDB2-4096-B23D-288B23FC3FDF}" type="sibTrans" cxnId="{83DD1521-4730-4C72-B9DC-97DB5308C2AD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F6B47FC0-BB11-411C-8BBE-8399FB0C1A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 criteria: Achieve very strong predictive accuracy (ROC-AUC ≈ 0.85, PR-AUC ≈ 0.85) while maintaining model interpretability via SHAP explanations.</a:t>
          </a:r>
        </a:p>
      </dgm:t>
    </dgm:pt>
    <dgm:pt modelId="{28AD8E56-BD12-4518-8C63-25750EF32771}" type="parTrans" cxnId="{2AE71F96-EA6D-4253-BFEA-383311D1C085}">
      <dgm:prSet/>
      <dgm:spPr/>
      <dgm:t>
        <a:bodyPr/>
        <a:lstStyle/>
        <a:p>
          <a:endParaRPr lang="en-US"/>
        </a:p>
      </dgm:t>
    </dgm:pt>
    <dgm:pt modelId="{F5106DCA-5935-42DC-AFDD-909A335B113C}" type="sibTrans" cxnId="{2AE71F96-EA6D-4253-BFEA-383311D1C085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92FDCACC-712C-754C-BCD7-53480798C726}" type="pres">
      <dgm:prSet presAssocID="{953B7023-C4D8-4423-ABB1-45AE1A419F30}" presName="linearFlow" presStyleCnt="0">
        <dgm:presLayoutVars>
          <dgm:dir/>
          <dgm:animLvl val="lvl"/>
          <dgm:resizeHandles val="exact"/>
        </dgm:presLayoutVars>
      </dgm:prSet>
      <dgm:spPr/>
    </dgm:pt>
    <dgm:pt modelId="{65BF2E30-81C6-D046-85E0-5B113A21BE8F}" type="pres">
      <dgm:prSet presAssocID="{50A47184-8F08-4720-B329-F5235EA7679B}" presName="compositeNode" presStyleCnt="0"/>
      <dgm:spPr/>
    </dgm:pt>
    <dgm:pt modelId="{43EB2A58-3013-FE47-867E-9F39968430D1}" type="pres">
      <dgm:prSet presAssocID="{50A47184-8F08-4720-B329-F5235EA7679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C9C7906-AA07-D041-8DCA-FD0ECAC79167}" type="pres">
      <dgm:prSet presAssocID="{50A47184-8F08-4720-B329-F5235EA7679B}" presName="parSh" presStyleCnt="0"/>
      <dgm:spPr/>
    </dgm:pt>
    <dgm:pt modelId="{A515F183-1F74-7A4A-912C-44DADE567C05}" type="pres">
      <dgm:prSet presAssocID="{50A47184-8F08-4720-B329-F5235EA7679B}" presName="lineNode" presStyleLbl="alignAccFollowNode1" presStyleIdx="0" presStyleCnt="12"/>
      <dgm:spPr/>
    </dgm:pt>
    <dgm:pt modelId="{B4E993E3-EDE0-984E-A51D-DC2982E01D97}" type="pres">
      <dgm:prSet presAssocID="{50A47184-8F08-4720-B329-F5235EA7679B}" presName="lineArrowNode" presStyleLbl="alignAccFollowNode1" presStyleIdx="1" presStyleCnt="12"/>
      <dgm:spPr/>
    </dgm:pt>
    <dgm:pt modelId="{AB476536-7E6C-9C46-A54A-B136B77B0A97}" type="pres">
      <dgm:prSet presAssocID="{E51CB715-39CD-4BC0-96DC-854EE06F25C1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626983C5-3AFC-8244-A9CF-6B80906ED1AD}" type="pres">
      <dgm:prSet presAssocID="{E51CB715-39CD-4BC0-96DC-854EE06F25C1}" presName="spacerBetweenCircleAndCallout" presStyleCnt="0">
        <dgm:presLayoutVars/>
      </dgm:prSet>
      <dgm:spPr/>
    </dgm:pt>
    <dgm:pt modelId="{6B170A21-0591-2349-92F4-4517C97EE3B6}" type="pres">
      <dgm:prSet presAssocID="{50A47184-8F08-4720-B329-F5235EA7679B}" presName="nodeText" presStyleLbl="alignAccFollowNode1" presStyleIdx="2" presStyleCnt="12">
        <dgm:presLayoutVars>
          <dgm:bulletEnabled val="1"/>
        </dgm:presLayoutVars>
      </dgm:prSet>
      <dgm:spPr/>
    </dgm:pt>
    <dgm:pt modelId="{B9762F73-6E47-BE40-8A8B-DF6F9DE927D3}" type="pres">
      <dgm:prSet presAssocID="{E51CB715-39CD-4BC0-96DC-854EE06F25C1}" presName="sibTransComposite" presStyleCnt="0"/>
      <dgm:spPr/>
    </dgm:pt>
    <dgm:pt modelId="{A9D5E403-6911-4B47-859B-4FA3574BD353}" type="pres">
      <dgm:prSet presAssocID="{CA9B860F-C127-4469-80D6-AE549F27D594}" presName="compositeNode" presStyleCnt="0"/>
      <dgm:spPr/>
    </dgm:pt>
    <dgm:pt modelId="{4B6C596D-5DDF-3841-98A0-47CFABE214A5}" type="pres">
      <dgm:prSet presAssocID="{CA9B860F-C127-4469-80D6-AE549F27D59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709DCB9-1FAF-A543-AABE-FC22F4B75253}" type="pres">
      <dgm:prSet presAssocID="{CA9B860F-C127-4469-80D6-AE549F27D594}" presName="parSh" presStyleCnt="0"/>
      <dgm:spPr/>
    </dgm:pt>
    <dgm:pt modelId="{47F930C6-8B9B-2442-B228-68630496D29E}" type="pres">
      <dgm:prSet presAssocID="{CA9B860F-C127-4469-80D6-AE549F27D594}" presName="lineNode" presStyleLbl="alignAccFollowNode1" presStyleIdx="3" presStyleCnt="12"/>
      <dgm:spPr/>
    </dgm:pt>
    <dgm:pt modelId="{766E8BBF-DB3C-EE45-9B09-DABC77E76825}" type="pres">
      <dgm:prSet presAssocID="{CA9B860F-C127-4469-80D6-AE549F27D594}" presName="lineArrowNode" presStyleLbl="alignAccFollowNode1" presStyleIdx="4" presStyleCnt="12"/>
      <dgm:spPr/>
    </dgm:pt>
    <dgm:pt modelId="{171F1030-40E9-3B4E-AE75-8B47A36D8AFE}" type="pres">
      <dgm:prSet presAssocID="{5C8A14FD-3BED-4D52-ADC2-167074F62322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7B27DE9B-00D2-F646-9673-F49CD64EF584}" type="pres">
      <dgm:prSet presAssocID="{5C8A14FD-3BED-4D52-ADC2-167074F62322}" presName="spacerBetweenCircleAndCallout" presStyleCnt="0">
        <dgm:presLayoutVars/>
      </dgm:prSet>
      <dgm:spPr/>
    </dgm:pt>
    <dgm:pt modelId="{FDB4F4F6-45E2-8043-B242-F3CDDAFF4094}" type="pres">
      <dgm:prSet presAssocID="{CA9B860F-C127-4469-80D6-AE549F27D594}" presName="nodeText" presStyleLbl="alignAccFollowNode1" presStyleIdx="5" presStyleCnt="12">
        <dgm:presLayoutVars>
          <dgm:bulletEnabled val="1"/>
        </dgm:presLayoutVars>
      </dgm:prSet>
      <dgm:spPr/>
    </dgm:pt>
    <dgm:pt modelId="{9823E5B9-818E-1840-888B-DE8EBA4D6989}" type="pres">
      <dgm:prSet presAssocID="{5C8A14FD-3BED-4D52-ADC2-167074F62322}" presName="sibTransComposite" presStyleCnt="0"/>
      <dgm:spPr/>
    </dgm:pt>
    <dgm:pt modelId="{A37200FC-BBA1-B541-A24C-AC93EA0257B5}" type="pres">
      <dgm:prSet presAssocID="{686B65E1-8CA0-4794-AF9C-FCE527249DCB}" presName="compositeNode" presStyleCnt="0"/>
      <dgm:spPr/>
    </dgm:pt>
    <dgm:pt modelId="{6CE4B36C-E133-DA4E-8D09-03F0B835650D}" type="pres">
      <dgm:prSet presAssocID="{686B65E1-8CA0-4794-AF9C-FCE527249DC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7494B38-D2AA-1941-85C8-6CAFF7722683}" type="pres">
      <dgm:prSet presAssocID="{686B65E1-8CA0-4794-AF9C-FCE527249DCB}" presName="parSh" presStyleCnt="0"/>
      <dgm:spPr/>
    </dgm:pt>
    <dgm:pt modelId="{42F90A29-28D4-CC40-8121-B855FC89A313}" type="pres">
      <dgm:prSet presAssocID="{686B65E1-8CA0-4794-AF9C-FCE527249DCB}" presName="lineNode" presStyleLbl="alignAccFollowNode1" presStyleIdx="6" presStyleCnt="12"/>
      <dgm:spPr/>
    </dgm:pt>
    <dgm:pt modelId="{11A99695-DE1B-CE4A-94EF-80EB5526026F}" type="pres">
      <dgm:prSet presAssocID="{686B65E1-8CA0-4794-AF9C-FCE527249DCB}" presName="lineArrowNode" presStyleLbl="alignAccFollowNode1" presStyleIdx="7" presStyleCnt="12"/>
      <dgm:spPr/>
    </dgm:pt>
    <dgm:pt modelId="{297E94D2-9EC9-844D-B031-5DE8AEE9AA3D}" type="pres">
      <dgm:prSet presAssocID="{B1F425F2-CDB2-4096-B23D-288B23FC3FDF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3242ED1E-0FA1-1049-A779-ED1256A21C53}" type="pres">
      <dgm:prSet presAssocID="{B1F425F2-CDB2-4096-B23D-288B23FC3FDF}" presName="spacerBetweenCircleAndCallout" presStyleCnt="0">
        <dgm:presLayoutVars/>
      </dgm:prSet>
      <dgm:spPr/>
    </dgm:pt>
    <dgm:pt modelId="{F29DF94B-FBA9-F64B-813C-87205812695C}" type="pres">
      <dgm:prSet presAssocID="{686B65E1-8CA0-4794-AF9C-FCE527249DCB}" presName="nodeText" presStyleLbl="alignAccFollowNode1" presStyleIdx="8" presStyleCnt="12">
        <dgm:presLayoutVars>
          <dgm:bulletEnabled val="1"/>
        </dgm:presLayoutVars>
      </dgm:prSet>
      <dgm:spPr/>
    </dgm:pt>
    <dgm:pt modelId="{D8F6F26E-8F86-C84E-B066-2715B257EBA0}" type="pres">
      <dgm:prSet presAssocID="{B1F425F2-CDB2-4096-B23D-288B23FC3FDF}" presName="sibTransComposite" presStyleCnt="0"/>
      <dgm:spPr/>
    </dgm:pt>
    <dgm:pt modelId="{9818E677-A6B8-E645-A542-6F623C322377}" type="pres">
      <dgm:prSet presAssocID="{F6B47FC0-BB11-411C-8BBE-8399FB0C1A5B}" presName="compositeNode" presStyleCnt="0"/>
      <dgm:spPr/>
    </dgm:pt>
    <dgm:pt modelId="{6A9620D2-CF3E-AA42-BCFA-44F8D3905FDB}" type="pres">
      <dgm:prSet presAssocID="{F6B47FC0-BB11-411C-8BBE-8399FB0C1A5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92D17F3-3E4F-0E4B-AEE6-AB7F1B12CED7}" type="pres">
      <dgm:prSet presAssocID="{F6B47FC0-BB11-411C-8BBE-8399FB0C1A5B}" presName="parSh" presStyleCnt="0"/>
      <dgm:spPr/>
    </dgm:pt>
    <dgm:pt modelId="{727E50BF-634C-E04D-940D-4CF462804F25}" type="pres">
      <dgm:prSet presAssocID="{F6B47FC0-BB11-411C-8BBE-8399FB0C1A5B}" presName="lineNode" presStyleLbl="alignAccFollowNode1" presStyleIdx="9" presStyleCnt="12"/>
      <dgm:spPr/>
    </dgm:pt>
    <dgm:pt modelId="{68FBE5A4-73EC-6748-A4CF-E648A68F46EB}" type="pres">
      <dgm:prSet presAssocID="{F6B47FC0-BB11-411C-8BBE-8399FB0C1A5B}" presName="lineArrowNode" presStyleLbl="alignAccFollowNode1" presStyleIdx="10" presStyleCnt="12"/>
      <dgm:spPr/>
    </dgm:pt>
    <dgm:pt modelId="{DAA16F45-D87A-3B47-A178-C7441A63F0AD}" type="pres">
      <dgm:prSet presAssocID="{F5106DCA-5935-42DC-AFDD-909A335B113C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D7FFE78D-EC89-7446-B5A5-FACD085032A2}" type="pres">
      <dgm:prSet presAssocID="{F5106DCA-5935-42DC-AFDD-909A335B113C}" presName="spacerBetweenCircleAndCallout" presStyleCnt="0">
        <dgm:presLayoutVars/>
      </dgm:prSet>
      <dgm:spPr/>
    </dgm:pt>
    <dgm:pt modelId="{FB80DF8B-AEF2-9249-B529-FEBD4BC82C15}" type="pres">
      <dgm:prSet presAssocID="{F6B47FC0-BB11-411C-8BBE-8399FB0C1A5B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6DB74A06-5AD2-444D-ABA3-2CEC44A3B021}" type="presOf" srcId="{5C8A14FD-3BED-4D52-ADC2-167074F62322}" destId="{171F1030-40E9-3B4E-AE75-8B47A36D8AFE}" srcOrd="0" destOrd="0" presId="urn:microsoft.com/office/officeart/2016/7/layout/LinearArrowProcessNumbered"/>
    <dgm:cxn modelId="{10D20F20-BA53-4848-BAD3-FA4E93444E80}" type="presOf" srcId="{F6B47FC0-BB11-411C-8BBE-8399FB0C1A5B}" destId="{FB80DF8B-AEF2-9249-B529-FEBD4BC82C15}" srcOrd="0" destOrd="0" presId="urn:microsoft.com/office/officeart/2016/7/layout/LinearArrowProcessNumbered"/>
    <dgm:cxn modelId="{83DD1521-4730-4C72-B9DC-97DB5308C2AD}" srcId="{953B7023-C4D8-4423-ABB1-45AE1A419F30}" destId="{686B65E1-8CA0-4794-AF9C-FCE527249DCB}" srcOrd="2" destOrd="0" parTransId="{7F1CDB66-389C-411B-B152-F546C5A270D8}" sibTransId="{B1F425F2-CDB2-4096-B23D-288B23FC3FDF}"/>
    <dgm:cxn modelId="{FCF6692D-2572-E543-8847-50150905BECE}" type="presOf" srcId="{E51CB715-39CD-4BC0-96DC-854EE06F25C1}" destId="{AB476536-7E6C-9C46-A54A-B136B77B0A97}" srcOrd="0" destOrd="0" presId="urn:microsoft.com/office/officeart/2016/7/layout/LinearArrowProcessNumbered"/>
    <dgm:cxn modelId="{D0AFF256-8CEE-4C1C-B718-E25F6A3DD14B}" srcId="{953B7023-C4D8-4423-ABB1-45AE1A419F30}" destId="{50A47184-8F08-4720-B329-F5235EA7679B}" srcOrd="0" destOrd="0" parTransId="{A816838C-7B98-4827-919D-3FA0AAA6CFFB}" sibTransId="{E51CB715-39CD-4BC0-96DC-854EE06F25C1}"/>
    <dgm:cxn modelId="{DE2FB05D-D205-9D4B-8FF2-BBC25BF068F2}" type="presOf" srcId="{CA9B860F-C127-4469-80D6-AE549F27D594}" destId="{FDB4F4F6-45E2-8043-B242-F3CDDAFF4094}" srcOrd="0" destOrd="0" presId="urn:microsoft.com/office/officeart/2016/7/layout/LinearArrowProcessNumbered"/>
    <dgm:cxn modelId="{2ADB0168-556F-DE4D-B939-88A507F02DE5}" type="presOf" srcId="{953B7023-C4D8-4423-ABB1-45AE1A419F30}" destId="{92FDCACC-712C-754C-BCD7-53480798C726}" srcOrd="0" destOrd="0" presId="urn:microsoft.com/office/officeart/2016/7/layout/LinearArrowProcessNumbered"/>
    <dgm:cxn modelId="{229E0675-CD36-E449-AE54-A22472964E37}" type="presOf" srcId="{F5106DCA-5935-42DC-AFDD-909A335B113C}" destId="{DAA16F45-D87A-3B47-A178-C7441A63F0AD}" srcOrd="0" destOrd="0" presId="urn:microsoft.com/office/officeart/2016/7/layout/LinearArrowProcessNumbered"/>
    <dgm:cxn modelId="{94F91A8A-CC8A-424D-AE0D-74675A37AD0A}" type="presOf" srcId="{50A47184-8F08-4720-B329-F5235EA7679B}" destId="{6B170A21-0591-2349-92F4-4517C97EE3B6}" srcOrd="0" destOrd="0" presId="urn:microsoft.com/office/officeart/2016/7/layout/LinearArrowProcessNumbered"/>
    <dgm:cxn modelId="{1121F58A-04CA-489E-94E1-282B32311002}" srcId="{953B7023-C4D8-4423-ABB1-45AE1A419F30}" destId="{CA9B860F-C127-4469-80D6-AE549F27D594}" srcOrd="1" destOrd="0" parTransId="{B7099340-AC1B-493D-9949-139465D11216}" sibTransId="{5C8A14FD-3BED-4D52-ADC2-167074F62322}"/>
    <dgm:cxn modelId="{2AE71F96-EA6D-4253-BFEA-383311D1C085}" srcId="{953B7023-C4D8-4423-ABB1-45AE1A419F30}" destId="{F6B47FC0-BB11-411C-8BBE-8399FB0C1A5B}" srcOrd="3" destOrd="0" parTransId="{28AD8E56-BD12-4518-8C63-25750EF32771}" sibTransId="{F5106DCA-5935-42DC-AFDD-909A335B113C}"/>
    <dgm:cxn modelId="{E9F82EB4-0B23-544F-87E9-7EC4DB978E68}" type="presOf" srcId="{B1F425F2-CDB2-4096-B23D-288B23FC3FDF}" destId="{297E94D2-9EC9-844D-B031-5DE8AEE9AA3D}" srcOrd="0" destOrd="0" presId="urn:microsoft.com/office/officeart/2016/7/layout/LinearArrowProcessNumbered"/>
    <dgm:cxn modelId="{7E6EE7D6-DAAE-F542-A094-CF9BA52ADC2B}" type="presOf" srcId="{686B65E1-8CA0-4794-AF9C-FCE527249DCB}" destId="{F29DF94B-FBA9-F64B-813C-87205812695C}" srcOrd="0" destOrd="0" presId="urn:microsoft.com/office/officeart/2016/7/layout/LinearArrowProcessNumbered"/>
    <dgm:cxn modelId="{3474F291-6C67-C14C-85EC-7FCD0A6A25C3}" type="presParOf" srcId="{92FDCACC-712C-754C-BCD7-53480798C726}" destId="{65BF2E30-81C6-D046-85E0-5B113A21BE8F}" srcOrd="0" destOrd="0" presId="urn:microsoft.com/office/officeart/2016/7/layout/LinearArrowProcessNumbered"/>
    <dgm:cxn modelId="{E3F3E983-DC30-8042-AB18-62734B9B921B}" type="presParOf" srcId="{65BF2E30-81C6-D046-85E0-5B113A21BE8F}" destId="{43EB2A58-3013-FE47-867E-9F39968430D1}" srcOrd="0" destOrd="0" presId="urn:microsoft.com/office/officeart/2016/7/layout/LinearArrowProcessNumbered"/>
    <dgm:cxn modelId="{C70C46CA-1B57-BD41-8EC9-3D051BF6D2CB}" type="presParOf" srcId="{65BF2E30-81C6-D046-85E0-5B113A21BE8F}" destId="{9C9C7906-AA07-D041-8DCA-FD0ECAC79167}" srcOrd="1" destOrd="0" presId="urn:microsoft.com/office/officeart/2016/7/layout/LinearArrowProcessNumbered"/>
    <dgm:cxn modelId="{52968E37-29D8-4441-B438-63930519D7C2}" type="presParOf" srcId="{9C9C7906-AA07-D041-8DCA-FD0ECAC79167}" destId="{A515F183-1F74-7A4A-912C-44DADE567C05}" srcOrd="0" destOrd="0" presId="urn:microsoft.com/office/officeart/2016/7/layout/LinearArrowProcessNumbered"/>
    <dgm:cxn modelId="{8F7C9E4A-1180-4F4C-95E1-C94BE66B64FD}" type="presParOf" srcId="{9C9C7906-AA07-D041-8DCA-FD0ECAC79167}" destId="{B4E993E3-EDE0-984E-A51D-DC2982E01D97}" srcOrd="1" destOrd="0" presId="urn:microsoft.com/office/officeart/2016/7/layout/LinearArrowProcessNumbered"/>
    <dgm:cxn modelId="{5E8A3FEB-CD13-6540-A81B-62D670FC3C76}" type="presParOf" srcId="{9C9C7906-AA07-D041-8DCA-FD0ECAC79167}" destId="{AB476536-7E6C-9C46-A54A-B136B77B0A97}" srcOrd="2" destOrd="0" presId="urn:microsoft.com/office/officeart/2016/7/layout/LinearArrowProcessNumbered"/>
    <dgm:cxn modelId="{9EDCC133-398E-8648-83FF-6EA1132D7E52}" type="presParOf" srcId="{9C9C7906-AA07-D041-8DCA-FD0ECAC79167}" destId="{626983C5-3AFC-8244-A9CF-6B80906ED1AD}" srcOrd="3" destOrd="0" presId="urn:microsoft.com/office/officeart/2016/7/layout/LinearArrowProcessNumbered"/>
    <dgm:cxn modelId="{117EA4E6-8017-6143-B4A1-959479ECA67D}" type="presParOf" srcId="{65BF2E30-81C6-D046-85E0-5B113A21BE8F}" destId="{6B170A21-0591-2349-92F4-4517C97EE3B6}" srcOrd="2" destOrd="0" presId="urn:microsoft.com/office/officeart/2016/7/layout/LinearArrowProcessNumbered"/>
    <dgm:cxn modelId="{85EF99BD-6AEE-224F-997A-828D93A86D92}" type="presParOf" srcId="{92FDCACC-712C-754C-BCD7-53480798C726}" destId="{B9762F73-6E47-BE40-8A8B-DF6F9DE927D3}" srcOrd="1" destOrd="0" presId="urn:microsoft.com/office/officeart/2016/7/layout/LinearArrowProcessNumbered"/>
    <dgm:cxn modelId="{4A6507F7-C660-8E48-BC81-A93D17C13CAA}" type="presParOf" srcId="{92FDCACC-712C-754C-BCD7-53480798C726}" destId="{A9D5E403-6911-4B47-859B-4FA3574BD353}" srcOrd="2" destOrd="0" presId="urn:microsoft.com/office/officeart/2016/7/layout/LinearArrowProcessNumbered"/>
    <dgm:cxn modelId="{E86A28D4-4E00-D94C-B0ED-FCB99580AC32}" type="presParOf" srcId="{A9D5E403-6911-4B47-859B-4FA3574BD353}" destId="{4B6C596D-5DDF-3841-98A0-47CFABE214A5}" srcOrd="0" destOrd="0" presId="urn:microsoft.com/office/officeart/2016/7/layout/LinearArrowProcessNumbered"/>
    <dgm:cxn modelId="{D951F57E-37B4-9B49-B601-74C972C583D1}" type="presParOf" srcId="{A9D5E403-6911-4B47-859B-4FA3574BD353}" destId="{C709DCB9-1FAF-A543-AABE-FC22F4B75253}" srcOrd="1" destOrd="0" presId="urn:microsoft.com/office/officeart/2016/7/layout/LinearArrowProcessNumbered"/>
    <dgm:cxn modelId="{9180B21F-AD00-1441-BD01-720D13DC90F7}" type="presParOf" srcId="{C709DCB9-1FAF-A543-AABE-FC22F4B75253}" destId="{47F930C6-8B9B-2442-B228-68630496D29E}" srcOrd="0" destOrd="0" presId="urn:microsoft.com/office/officeart/2016/7/layout/LinearArrowProcessNumbered"/>
    <dgm:cxn modelId="{FCE3F411-D43E-3242-9B04-FC8AEC315711}" type="presParOf" srcId="{C709DCB9-1FAF-A543-AABE-FC22F4B75253}" destId="{766E8BBF-DB3C-EE45-9B09-DABC77E76825}" srcOrd="1" destOrd="0" presId="urn:microsoft.com/office/officeart/2016/7/layout/LinearArrowProcessNumbered"/>
    <dgm:cxn modelId="{9206F51B-88BC-704E-B2B1-532C2DBD9151}" type="presParOf" srcId="{C709DCB9-1FAF-A543-AABE-FC22F4B75253}" destId="{171F1030-40E9-3B4E-AE75-8B47A36D8AFE}" srcOrd="2" destOrd="0" presId="urn:microsoft.com/office/officeart/2016/7/layout/LinearArrowProcessNumbered"/>
    <dgm:cxn modelId="{4A4854C7-F953-B84A-B1E0-CD4963EEB756}" type="presParOf" srcId="{C709DCB9-1FAF-A543-AABE-FC22F4B75253}" destId="{7B27DE9B-00D2-F646-9673-F49CD64EF584}" srcOrd="3" destOrd="0" presId="urn:microsoft.com/office/officeart/2016/7/layout/LinearArrowProcessNumbered"/>
    <dgm:cxn modelId="{CF0CFC0E-EF2A-0A4E-BD28-13241238ED6A}" type="presParOf" srcId="{A9D5E403-6911-4B47-859B-4FA3574BD353}" destId="{FDB4F4F6-45E2-8043-B242-F3CDDAFF4094}" srcOrd="2" destOrd="0" presId="urn:microsoft.com/office/officeart/2016/7/layout/LinearArrowProcessNumbered"/>
    <dgm:cxn modelId="{B4C222E6-FA34-444B-B58F-4E3D5A80BC73}" type="presParOf" srcId="{92FDCACC-712C-754C-BCD7-53480798C726}" destId="{9823E5B9-818E-1840-888B-DE8EBA4D6989}" srcOrd="3" destOrd="0" presId="urn:microsoft.com/office/officeart/2016/7/layout/LinearArrowProcessNumbered"/>
    <dgm:cxn modelId="{B39BAC1B-CB19-9841-8657-7BD6D40509DE}" type="presParOf" srcId="{92FDCACC-712C-754C-BCD7-53480798C726}" destId="{A37200FC-BBA1-B541-A24C-AC93EA0257B5}" srcOrd="4" destOrd="0" presId="urn:microsoft.com/office/officeart/2016/7/layout/LinearArrowProcessNumbered"/>
    <dgm:cxn modelId="{4EDCE743-DA22-9447-BB10-5B4C9562F0EC}" type="presParOf" srcId="{A37200FC-BBA1-B541-A24C-AC93EA0257B5}" destId="{6CE4B36C-E133-DA4E-8D09-03F0B835650D}" srcOrd="0" destOrd="0" presId="urn:microsoft.com/office/officeart/2016/7/layout/LinearArrowProcessNumbered"/>
    <dgm:cxn modelId="{9E94396B-3BDC-484E-A46F-1F4C458D4EB7}" type="presParOf" srcId="{A37200FC-BBA1-B541-A24C-AC93EA0257B5}" destId="{27494B38-D2AA-1941-85C8-6CAFF7722683}" srcOrd="1" destOrd="0" presId="urn:microsoft.com/office/officeart/2016/7/layout/LinearArrowProcessNumbered"/>
    <dgm:cxn modelId="{9CF80719-318D-4143-B460-58116AFEAA3F}" type="presParOf" srcId="{27494B38-D2AA-1941-85C8-6CAFF7722683}" destId="{42F90A29-28D4-CC40-8121-B855FC89A313}" srcOrd="0" destOrd="0" presId="urn:microsoft.com/office/officeart/2016/7/layout/LinearArrowProcessNumbered"/>
    <dgm:cxn modelId="{3F61EC3A-A2AD-D846-858F-50444F260510}" type="presParOf" srcId="{27494B38-D2AA-1941-85C8-6CAFF7722683}" destId="{11A99695-DE1B-CE4A-94EF-80EB5526026F}" srcOrd="1" destOrd="0" presId="urn:microsoft.com/office/officeart/2016/7/layout/LinearArrowProcessNumbered"/>
    <dgm:cxn modelId="{5BCA5C34-CEBD-F245-85C4-66710ED974CB}" type="presParOf" srcId="{27494B38-D2AA-1941-85C8-6CAFF7722683}" destId="{297E94D2-9EC9-844D-B031-5DE8AEE9AA3D}" srcOrd="2" destOrd="0" presId="urn:microsoft.com/office/officeart/2016/7/layout/LinearArrowProcessNumbered"/>
    <dgm:cxn modelId="{6C6F32B1-9F83-9D48-9E15-7EA7C774B674}" type="presParOf" srcId="{27494B38-D2AA-1941-85C8-6CAFF7722683}" destId="{3242ED1E-0FA1-1049-A779-ED1256A21C53}" srcOrd="3" destOrd="0" presId="urn:microsoft.com/office/officeart/2016/7/layout/LinearArrowProcessNumbered"/>
    <dgm:cxn modelId="{FDC61357-207D-C347-9E14-94A4B80E8CA5}" type="presParOf" srcId="{A37200FC-BBA1-B541-A24C-AC93EA0257B5}" destId="{F29DF94B-FBA9-F64B-813C-87205812695C}" srcOrd="2" destOrd="0" presId="urn:microsoft.com/office/officeart/2016/7/layout/LinearArrowProcessNumbered"/>
    <dgm:cxn modelId="{0E2048AC-E670-944F-93AD-54BD3DD3D261}" type="presParOf" srcId="{92FDCACC-712C-754C-BCD7-53480798C726}" destId="{D8F6F26E-8F86-C84E-B066-2715B257EBA0}" srcOrd="5" destOrd="0" presId="urn:microsoft.com/office/officeart/2016/7/layout/LinearArrowProcessNumbered"/>
    <dgm:cxn modelId="{FDE5344A-B4DD-7341-A13D-3D903B8C79A4}" type="presParOf" srcId="{92FDCACC-712C-754C-BCD7-53480798C726}" destId="{9818E677-A6B8-E645-A542-6F623C322377}" srcOrd="6" destOrd="0" presId="urn:microsoft.com/office/officeart/2016/7/layout/LinearArrowProcessNumbered"/>
    <dgm:cxn modelId="{C7B395F9-E50B-2742-A77C-B7EDDA4C049F}" type="presParOf" srcId="{9818E677-A6B8-E645-A542-6F623C322377}" destId="{6A9620D2-CF3E-AA42-BCFA-44F8D3905FDB}" srcOrd="0" destOrd="0" presId="urn:microsoft.com/office/officeart/2016/7/layout/LinearArrowProcessNumbered"/>
    <dgm:cxn modelId="{CDD7B975-64C2-374B-86F3-740695EB741E}" type="presParOf" srcId="{9818E677-A6B8-E645-A542-6F623C322377}" destId="{F92D17F3-3E4F-0E4B-AEE6-AB7F1B12CED7}" srcOrd="1" destOrd="0" presId="urn:microsoft.com/office/officeart/2016/7/layout/LinearArrowProcessNumbered"/>
    <dgm:cxn modelId="{6DC9C288-F132-6647-BD91-9889E5854D42}" type="presParOf" srcId="{F92D17F3-3E4F-0E4B-AEE6-AB7F1B12CED7}" destId="{727E50BF-634C-E04D-940D-4CF462804F25}" srcOrd="0" destOrd="0" presId="urn:microsoft.com/office/officeart/2016/7/layout/LinearArrowProcessNumbered"/>
    <dgm:cxn modelId="{CAE1CF1C-8FC2-374A-83BC-BA97FF4F669A}" type="presParOf" srcId="{F92D17F3-3E4F-0E4B-AEE6-AB7F1B12CED7}" destId="{68FBE5A4-73EC-6748-A4CF-E648A68F46EB}" srcOrd="1" destOrd="0" presId="urn:microsoft.com/office/officeart/2016/7/layout/LinearArrowProcessNumbered"/>
    <dgm:cxn modelId="{1653E2D8-DB5C-6144-B3FE-5750ACECC9C8}" type="presParOf" srcId="{F92D17F3-3E4F-0E4B-AEE6-AB7F1B12CED7}" destId="{DAA16F45-D87A-3B47-A178-C7441A63F0AD}" srcOrd="2" destOrd="0" presId="urn:microsoft.com/office/officeart/2016/7/layout/LinearArrowProcessNumbered"/>
    <dgm:cxn modelId="{439DE868-660C-9047-B5FB-A774BCAC9571}" type="presParOf" srcId="{F92D17F3-3E4F-0E4B-AEE6-AB7F1B12CED7}" destId="{D7FFE78D-EC89-7446-B5A5-FACD085032A2}" srcOrd="3" destOrd="0" presId="urn:microsoft.com/office/officeart/2016/7/layout/LinearArrowProcessNumbered"/>
    <dgm:cxn modelId="{3538412F-3CC8-5748-920C-874DACCA3721}" type="presParOf" srcId="{9818E677-A6B8-E645-A542-6F623C322377}" destId="{FB80DF8B-AEF2-9249-B529-FEBD4BC82C15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30A03-94D6-584E-B909-4991E963FA11}">
      <dsp:nvSpPr>
        <dsp:cNvPr id="0" name=""/>
        <dsp:cNvSpPr/>
      </dsp:nvSpPr>
      <dsp:spPr>
        <a:xfrm>
          <a:off x="0" y="118285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cosmetics industry faces growing pressure to ensure ingredient safety and transparency. </a:t>
          </a:r>
        </a:p>
      </dsp:txBody>
      <dsp:txXfrm>
        <a:off x="42694" y="160979"/>
        <a:ext cx="10015326" cy="789198"/>
      </dsp:txXfrm>
    </dsp:sp>
    <dsp:sp modelId="{639C1119-BD5D-3D45-B16C-BDF806784798}">
      <dsp:nvSpPr>
        <dsp:cNvPr id="0" name=""/>
        <dsp:cNvSpPr/>
      </dsp:nvSpPr>
      <dsp:spPr>
        <a:xfrm>
          <a:off x="0" y="1033191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California Safe Cosmetics Program (CSCP) dataset tracks cosmetic products sold in California – including each product’s brand, category, ingredients (chemical names and CAS numbers), and whether it has been discontinued. </a:t>
          </a:r>
        </a:p>
      </dsp:txBody>
      <dsp:txXfrm>
        <a:off x="42694" y="1075885"/>
        <a:ext cx="10015326" cy="789198"/>
      </dsp:txXfrm>
    </dsp:sp>
    <dsp:sp modelId="{F4236C11-22CF-9C42-AD9D-C7CE65CC2966}">
      <dsp:nvSpPr>
        <dsp:cNvPr id="0" name=""/>
        <dsp:cNvSpPr/>
      </dsp:nvSpPr>
      <dsp:spPr>
        <a:xfrm>
          <a:off x="0" y="1948098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Our goal is to use CSCP data to uncover why products are discontinued (safety/compliance issues) by identifying patterns linked to brand, category, or chemical composition. </a:t>
          </a:r>
        </a:p>
      </dsp:txBody>
      <dsp:txXfrm>
        <a:off x="42694" y="1990792"/>
        <a:ext cx="10015326" cy="789198"/>
      </dsp:txXfrm>
    </dsp:sp>
    <dsp:sp modelId="{D1BBE708-8686-6B45-9D8F-E5453E220379}">
      <dsp:nvSpPr>
        <dsp:cNvPr id="0" name=""/>
        <dsp:cNvSpPr/>
      </dsp:nvSpPr>
      <dsp:spPr>
        <a:xfrm>
          <a:off x="0" y="2863004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business questions: Which product features drive discontinuation? Which brands or product categories have higher adjusted discontinuation risk? Which ingredients (chemicals/CAS IDs) are most associated with discontinued products. </a:t>
          </a:r>
        </a:p>
      </dsp:txBody>
      <dsp:txXfrm>
        <a:off x="42694" y="2905698"/>
        <a:ext cx="10015326" cy="789198"/>
      </dsp:txXfrm>
    </dsp:sp>
    <dsp:sp modelId="{DB6EB0AD-EAA8-9247-929C-023D8E77C555}">
      <dsp:nvSpPr>
        <dsp:cNvPr id="0" name=""/>
        <dsp:cNvSpPr/>
      </dsp:nvSpPr>
      <dsp:spPr>
        <a:xfrm>
          <a:off x="0" y="3777911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Insights will help manufacturers, regulators, and consumers make data-driven safety decisions (proactive reformulation, targeted inspections, transparent labeling).</a:t>
          </a:r>
        </a:p>
      </dsp:txBody>
      <dsp:txXfrm>
        <a:off x="42694" y="3820605"/>
        <a:ext cx="10015326" cy="78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5F183-1F74-7A4A-912C-44DADE567C05}">
      <dsp:nvSpPr>
        <dsp:cNvPr id="0" name=""/>
        <dsp:cNvSpPr/>
      </dsp:nvSpPr>
      <dsp:spPr>
        <a:xfrm>
          <a:off x="1268088" y="1129737"/>
          <a:ext cx="1014470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993E3-EDE0-984E-A51D-DC2982E01D97}">
      <dsp:nvSpPr>
        <dsp:cNvPr id="0" name=""/>
        <dsp:cNvSpPr/>
      </dsp:nvSpPr>
      <dsp:spPr>
        <a:xfrm>
          <a:off x="2343427" y="1044557"/>
          <a:ext cx="116664" cy="21906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76536-7E6C-9C46-A54A-B136B77B0A97}">
      <dsp:nvSpPr>
        <dsp:cNvPr id="0" name=""/>
        <dsp:cNvSpPr/>
      </dsp:nvSpPr>
      <dsp:spPr>
        <a:xfrm>
          <a:off x="615375" y="60386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769409" y="757902"/>
        <a:ext cx="743740" cy="743740"/>
      </dsp:txXfrm>
    </dsp:sp>
    <dsp:sp modelId="{6B170A21-0591-2349-92F4-4517C97EE3B6}">
      <dsp:nvSpPr>
        <dsp:cNvPr id="0" name=""/>
        <dsp:cNvSpPr/>
      </dsp:nvSpPr>
      <dsp:spPr>
        <a:xfrm>
          <a:off x="0" y="1821233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 predictive models (Logistic Regression, Random Forest, XGBoost) to estimate each product’s likelihood of discontinuation. </a:t>
          </a:r>
        </a:p>
      </dsp:txBody>
      <dsp:txXfrm>
        <a:off x="0" y="2214353"/>
        <a:ext cx="2282558" cy="1572480"/>
      </dsp:txXfrm>
    </dsp:sp>
    <dsp:sp modelId="{47F930C6-8B9B-2442-B228-68630496D29E}">
      <dsp:nvSpPr>
        <dsp:cNvPr id="0" name=""/>
        <dsp:cNvSpPr/>
      </dsp:nvSpPr>
      <dsp:spPr>
        <a:xfrm>
          <a:off x="2536176" y="1129876"/>
          <a:ext cx="228255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E8BBF-DB3C-EE45-9B09-DABC77E76825}">
      <dsp:nvSpPr>
        <dsp:cNvPr id="0" name=""/>
        <dsp:cNvSpPr/>
      </dsp:nvSpPr>
      <dsp:spPr>
        <a:xfrm>
          <a:off x="4879603" y="1044674"/>
          <a:ext cx="116664" cy="21918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1F1030-40E9-3B4E-AE75-8B47A36D8AFE}">
      <dsp:nvSpPr>
        <dsp:cNvPr id="0" name=""/>
        <dsp:cNvSpPr/>
      </dsp:nvSpPr>
      <dsp:spPr>
        <a:xfrm>
          <a:off x="3151551" y="60400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305585" y="758042"/>
        <a:ext cx="743740" cy="743740"/>
      </dsp:txXfrm>
    </dsp:sp>
    <dsp:sp modelId="{FDB4F4F6-45E2-8043-B242-F3CDDAFF4094}">
      <dsp:nvSpPr>
        <dsp:cNvPr id="0" name=""/>
        <dsp:cNvSpPr/>
      </dsp:nvSpPr>
      <dsp:spPr>
        <a:xfrm>
          <a:off x="2536176" y="1821556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a Brand &amp; Category Safety Index that ranks brands/categories by their adjusted discontinuation risk. </a:t>
          </a:r>
        </a:p>
      </dsp:txBody>
      <dsp:txXfrm>
        <a:off x="2536176" y="2214676"/>
        <a:ext cx="2282558" cy="1572480"/>
      </dsp:txXfrm>
    </dsp:sp>
    <dsp:sp modelId="{42F90A29-28D4-CC40-8121-B855FC89A313}">
      <dsp:nvSpPr>
        <dsp:cNvPr id="0" name=""/>
        <dsp:cNvSpPr/>
      </dsp:nvSpPr>
      <dsp:spPr>
        <a:xfrm>
          <a:off x="5072352" y="1129876"/>
          <a:ext cx="228255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99695-DE1B-CE4A-94EF-80EB5526026F}">
      <dsp:nvSpPr>
        <dsp:cNvPr id="0" name=""/>
        <dsp:cNvSpPr/>
      </dsp:nvSpPr>
      <dsp:spPr>
        <a:xfrm>
          <a:off x="7415780" y="1044674"/>
          <a:ext cx="116664" cy="21918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E94D2-9EC9-844D-B031-5DE8AEE9AA3D}">
      <dsp:nvSpPr>
        <dsp:cNvPr id="0" name=""/>
        <dsp:cNvSpPr/>
      </dsp:nvSpPr>
      <dsp:spPr>
        <a:xfrm>
          <a:off x="5687728" y="60400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5841762" y="758042"/>
        <a:ext cx="743740" cy="743740"/>
      </dsp:txXfrm>
    </dsp:sp>
    <dsp:sp modelId="{F29DF94B-FBA9-F64B-813C-87205812695C}">
      <dsp:nvSpPr>
        <dsp:cNvPr id="0" name=""/>
        <dsp:cNvSpPr/>
      </dsp:nvSpPr>
      <dsp:spPr>
        <a:xfrm>
          <a:off x="5072352" y="1821556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high-impact chemicals and CAS-level patterns that contribute to product removals. </a:t>
          </a:r>
        </a:p>
      </dsp:txBody>
      <dsp:txXfrm>
        <a:off x="5072352" y="2214676"/>
        <a:ext cx="2282558" cy="1572480"/>
      </dsp:txXfrm>
    </dsp:sp>
    <dsp:sp modelId="{727E50BF-634C-E04D-940D-4CF462804F25}">
      <dsp:nvSpPr>
        <dsp:cNvPr id="0" name=""/>
        <dsp:cNvSpPr/>
      </dsp:nvSpPr>
      <dsp:spPr>
        <a:xfrm>
          <a:off x="7608529" y="1129876"/>
          <a:ext cx="1141279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A16F45-D87A-3B47-A178-C7441A63F0AD}">
      <dsp:nvSpPr>
        <dsp:cNvPr id="0" name=""/>
        <dsp:cNvSpPr/>
      </dsp:nvSpPr>
      <dsp:spPr>
        <a:xfrm>
          <a:off x="8223904" y="60400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4</a:t>
          </a:r>
        </a:p>
      </dsp:txBody>
      <dsp:txXfrm>
        <a:off x="8377938" y="758042"/>
        <a:ext cx="743740" cy="743740"/>
      </dsp:txXfrm>
    </dsp:sp>
    <dsp:sp modelId="{FB80DF8B-AEF2-9249-B529-FEBD4BC82C15}">
      <dsp:nvSpPr>
        <dsp:cNvPr id="0" name=""/>
        <dsp:cNvSpPr/>
      </dsp:nvSpPr>
      <dsp:spPr>
        <a:xfrm>
          <a:off x="7608529" y="1821556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Success criteria: Achieve very strong predictive accuracy (ROC-AUC ≈ 0.85, PR-AUC ≈ 0.85) while maintaining model interpretability via SHAP explanations.</a:t>
          </a:r>
        </a:p>
      </dsp:txBody>
      <dsp:txXfrm>
        <a:off x="7608529" y="2214676"/>
        <a:ext cx="2282558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31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>
          <p15:clr>
            <a:srgbClr val="F26B43"/>
          </p15:clr>
        </p15:guide>
        <p15:guide id="2" pos="1176">
          <p15:clr>
            <a:srgbClr val="F26B43"/>
          </p15:clr>
        </p15:guide>
        <p15:guide id="3" pos="1296">
          <p15:clr>
            <a:srgbClr val="F26B43"/>
          </p15:clr>
        </p15:guide>
        <p15:guide id="4" pos="1824">
          <p15:clr>
            <a:srgbClr val="F26B43"/>
          </p15:clr>
        </p15:guide>
        <p15:guide id="5" pos="1944">
          <p15:clr>
            <a:srgbClr val="F26B43"/>
          </p15:clr>
        </p15:guide>
        <p15:guide id="6" pos="2472">
          <p15:clr>
            <a:srgbClr val="F26B43"/>
          </p15:clr>
        </p15:guide>
        <p15:guide id="7" pos="2592">
          <p15:clr>
            <a:srgbClr val="F26B43"/>
          </p15:clr>
        </p15:guide>
        <p15:guide id="8" pos="3120">
          <p15:clr>
            <a:srgbClr val="F26B43"/>
          </p15:clr>
        </p15:guide>
        <p15:guide id="9" pos="3240">
          <p15:clr>
            <a:srgbClr val="F26B43"/>
          </p15:clr>
        </p15:guide>
        <p15:guide id="10" pos="3792">
          <p15:clr>
            <a:srgbClr val="F26B43"/>
          </p15:clr>
        </p15:guide>
        <p15:guide id="11" pos="3912">
          <p15:clr>
            <a:srgbClr val="F26B43"/>
          </p15:clr>
        </p15:guide>
        <p15:guide id="12" pos="4416">
          <p15:clr>
            <a:srgbClr val="F26B43"/>
          </p15:clr>
        </p15:guide>
        <p15:guide id="13" pos="4560">
          <p15:clr>
            <a:srgbClr val="F26B43"/>
          </p15:clr>
        </p15:guide>
        <p15:guide id="14" pos="5088">
          <p15:clr>
            <a:srgbClr val="F26B43"/>
          </p15:clr>
        </p15:guide>
        <p15:guide id="15" pos="5208">
          <p15:clr>
            <a:srgbClr val="F26B43"/>
          </p15:clr>
        </p15:guide>
        <p15:guide id="16" pos="5736">
          <p15:clr>
            <a:srgbClr val="F26B43"/>
          </p15:clr>
        </p15:guide>
        <p15:guide id="17" pos="5856">
          <p15:clr>
            <a:srgbClr val="F26B43"/>
          </p15:clr>
        </p15:guide>
        <p15:guide id="18" pos="6384">
          <p15:clr>
            <a:srgbClr val="F26B43"/>
          </p15:clr>
        </p15:guide>
        <p15:guide id="19" pos="6504">
          <p15:clr>
            <a:srgbClr val="F26B43"/>
          </p15:clr>
        </p15:guide>
        <p15:guide id="20" pos="7032">
          <p15:clr>
            <a:srgbClr val="F26B43"/>
          </p15:clr>
        </p15:guide>
        <p15:guide id="21" orient="horz" pos="288">
          <p15:clr>
            <a:srgbClr val="F26B43"/>
          </p15:clr>
        </p15:guide>
        <p15:guide id="22" orient="horz" pos="1128">
          <p15:clr>
            <a:srgbClr val="F26B43"/>
          </p15:clr>
        </p15:guide>
        <p15:guide id="23" orient="horz" pos="1248">
          <p15:clr>
            <a:srgbClr val="F26B43"/>
          </p15:clr>
        </p15:guide>
        <p15:guide id="24" orient="horz" pos="2088">
          <p15:clr>
            <a:srgbClr val="F26B43"/>
          </p15:clr>
        </p15:guide>
        <p15:guide id="25" orient="horz" pos="2232">
          <p15:clr>
            <a:srgbClr val="F26B43"/>
          </p15:clr>
        </p15:guide>
        <p15:guide id="26" orient="horz" pos="3048">
          <p15:clr>
            <a:srgbClr val="F26B43"/>
          </p15:clr>
        </p15:guide>
        <p15:guide id="27" orient="horz" pos="3192">
          <p15:clr>
            <a:srgbClr val="F26B43"/>
          </p15:clr>
        </p15:guide>
        <p15:guide id="28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1900461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Cosmetic Product Discontinuation: Machine Learning Analysis of the CSCP Dataset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2776760"/>
            <a:ext cx="3222058" cy="755455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Neharika Dara</a:t>
            </a:r>
          </a:p>
        </p:txBody>
      </p:sp>
      <p:pic>
        <p:nvPicPr>
          <p:cNvPr id="10" name="Picture Placeholder 9" descr="beauty products on a table with accent leaves">
            <a:extLst>
              <a:ext uri="{FF2B5EF4-FFF2-40B4-BE49-F238E27FC236}">
                <a16:creationId xmlns:a16="http://schemas.microsoft.com/office/drawing/2014/main" id="{989DB536-6819-4D2C-B0DB-D6649F94F6C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EC46ADB-55E5-43DA-8E91-C49412A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1A7FF5-E7DB-4462-BC64-12126BDC0D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11827" y="2401677"/>
            <a:ext cx="6813473" cy="2997410"/>
          </a:xfrm>
        </p:spPr>
        <p:txBody>
          <a:bodyPr>
            <a:normAutofit/>
          </a:bodyPr>
          <a:lstStyle/>
          <a:p>
            <a:r>
              <a:rPr lang="en-US" b="1" dirty="0"/>
              <a:t>01 Business Understanding and preparation</a:t>
            </a:r>
          </a:p>
          <a:p>
            <a:r>
              <a:rPr lang="en-US" b="1" dirty="0"/>
              <a:t>02 Data Understanding</a:t>
            </a:r>
          </a:p>
          <a:p>
            <a:r>
              <a:rPr lang="en-US" b="1" dirty="0"/>
              <a:t>03 Modeling and Evaluation</a:t>
            </a:r>
            <a:endParaRPr lang="en-US" dirty="0"/>
          </a:p>
          <a:p>
            <a:r>
              <a:rPr lang="en-US" b="1" dirty="0"/>
              <a:t>04 Recommendations</a:t>
            </a:r>
            <a:endParaRPr lang="en-US" dirty="0"/>
          </a:p>
          <a:p>
            <a:r>
              <a:rPr lang="en-US" b="1" dirty="0"/>
              <a:t>05 Conclusion and Next Steps</a:t>
            </a:r>
            <a:endParaRPr lang="en-US" dirty="0"/>
          </a:p>
          <a:p>
            <a:endParaRPr lang="en-US" b="1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AF05980-54E0-4F3D-BAF3-4CE06FA77025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394849-EE6D-4358-A824-BBF6E518EA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54" y="465137"/>
            <a:ext cx="8505022" cy="1340615"/>
          </a:xfrm>
        </p:spPr>
        <p:txBody>
          <a:bodyPr/>
          <a:lstStyle/>
          <a:p>
            <a:r>
              <a:rPr lang="en-US" sz="3600" dirty="0">
                <a:latin typeface="+mj-lt"/>
                <a:cs typeface="Times New Roman" panose="02020603050405020304" pitchFamily="18" charset="0"/>
              </a:rPr>
              <a:t>Business Context &amp; Problem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34AB595A-62C3-A124-BDD7-6998D93688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661942"/>
              </p:ext>
            </p:extLst>
          </p:nvPr>
        </p:nvGraphicFramePr>
        <p:xfrm>
          <a:off x="761917" y="1630017"/>
          <a:ext cx="10100714" cy="4770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129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E7C30-3F38-9B26-95A5-8AC2FF6F4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3F116B0-9611-131E-D5E9-BD8D8BE81F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3EC172E-57B9-64E5-A6F6-2BCCF71B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54" y="465137"/>
            <a:ext cx="7865724" cy="1340615"/>
          </a:xfrm>
        </p:spPr>
        <p:txBody>
          <a:bodyPr/>
          <a:lstStyle/>
          <a:p>
            <a:r>
              <a:rPr lang="en-US" sz="3600" dirty="0">
                <a:latin typeface="+mj-lt"/>
                <a:cs typeface="Times New Roman" panose="02020603050405020304" pitchFamily="18" charset="0"/>
              </a:rPr>
              <a:t>Objectives &amp; Success Criteria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BC152E2C-5DA9-C4F4-C3E9-EB4427CA3F0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7EEBD97-ACA7-7342-E8C6-4EA97D47C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7593F49C-E406-E3DA-D3BA-081C8D267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823729"/>
              </p:ext>
            </p:extLst>
          </p:nvPr>
        </p:nvGraphicFramePr>
        <p:xfrm>
          <a:off x="1040129" y="2009775"/>
          <a:ext cx="10144706" cy="4391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387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82311-0677-19E0-3A72-E77308A8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5DED263-2EBE-FCC6-A781-D15A7DC1E7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D051170-7D55-5852-FBB1-D27652EE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4" y="465137"/>
            <a:ext cx="6364398" cy="1340615"/>
          </a:xfrm>
        </p:spPr>
        <p:txBody>
          <a:bodyPr/>
          <a:lstStyle/>
          <a:p>
            <a:r>
              <a:rPr lang="en-US" sz="3600" dirty="0"/>
              <a:t>CSCP Data Overview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3C2FA-DA34-5F72-4D77-7212274B4E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9" y="2009775"/>
            <a:ext cx="9747141" cy="43910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Source: </a:t>
            </a:r>
            <a:r>
              <a:rPr lang="en-US" dirty="0"/>
              <a:t>California Safe Cosmetics Program (CSCP) – a regulatory database of cosmetic products sold in 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Contents: </a:t>
            </a:r>
            <a:r>
              <a:rPr lang="en-US" dirty="0"/>
              <a:t>Tens of thousands of product records with attributes: product name, brand, primary/sub-category, reported chemicals (names and CAS IDs), reporting dates (initial, most recent), and status (active/discontinued).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Derived Features: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err="1"/>
              <a:t>ChemicalCount</a:t>
            </a:r>
            <a:r>
              <a:rPr lang="en-US" sz="1600" dirty="0"/>
              <a:t> – number of unique chemicals per product.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err="1"/>
              <a:t>ProductAgeDays</a:t>
            </a:r>
            <a:r>
              <a:rPr lang="en-US" sz="1600" dirty="0"/>
              <a:t> and </a:t>
            </a:r>
            <a:r>
              <a:rPr lang="en-US" sz="1600" dirty="0" err="1"/>
              <a:t>ReportLagDays</a:t>
            </a:r>
            <a:r>
              <a:rPr lang="en-US" sz="1600" dirty="0"/>
              <a:t> – time-based features derived from dates.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CAS-level metrics (log-scaled global frequency, brand-uniqueness, category-uniqueness of each CAS) and one-hot encoding for brand, category, chemicals.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EBFC8512-F9B0-0E4A-4CC2-79356ABACD3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89FECC0-F02B-073F-BF76-88F58E515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01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462CC-F0D6-A66B-7308-36EEAFB76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E69CBB5-5117-0242-C447-5786803339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4701634-E3BA-ED6C-E3F3-89769047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3" y="465137"/>
            <a:ext cx="8001203" cy="1340615"/>
          </a:xfrm>
        </p:spPr>
        <p:txBody>
          <a:bodyPr/>
          <a:lstStyle/>
          <a:p>
            <a:r>
              <a:rPr lang="en-US" sz="3600" dirty="0"/>
              <a:t>Data Exploration &amp; Cleaning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B7D0-8323-DD1E-A3C0-63226CD023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805753"/>
            <a:ext cx="6275071" cy="476231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Class Imbalance: </a:t>
            </a:r>
            <a:r>
              <a:rPr lang="en-US" sz="1250" dirty="0"/>
              <a:t>Only ~10–15% of products are labeled “discontinued,” requiring class-weighted modeling.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Feature Distributions: </a:t>
            </a:r>
            <a:r>
              <a:rPr lang="en-US" sz="1250" dirty="0"/>
              <a:t>Product age and reporting lag are right-skewed; brand and category follow a long-tail (few brands dominate).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Preliminary Patterns: </a:t>
            </a:r>
            <a:r>
              <a:rPr lang="en-US" sz="1250" dirty="0"/>
              <a:t>Discontinued products tend to have shorter lifespans and fewer distinct ingredients. This hinted at potential predictors for modeling.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Data Quality: </a:t>
            </a:r>
            <a:r>
              <a:rPr lang="en-US" sz="1250" dirty="0"/>
              <a:t>Missing values were addressed (numeric fields imputed with medians; blanks in categorical fields set to “Unknown”). Duplicated product–chemical rows were removed and naming inconsistencies (brands/chemicals) standardized. Outliers in dates were corrected or excluded to ensure reliability.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Summary: </a:t>
            </a:r>
            <a:r>
              <a:rPr lang="en-US" sz="1250" dirty="0"/>
              <a:t>After cleaning and feature engineering, the dataset was ready for modeling with balanced consideration of class imbalance and high-dimensional categorical features.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B57B302-60B2-830C-ED77-D9EC26A59C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DE76B03-293A-EA76-C3F6-1D82F25B6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2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F9D64-B7D6-6B83-2EBD-C1AD3DD597D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7C81873-7D47-483D-BCB4-50DD9806C720}" type="datetime1">
              <a:rPr lang="en-US" smtClean="0"/>
              <a:t>12/19/25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79363A-774E-087B-A744-797CE9B03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8F357C5-96FC-73B3-D64B-BAF7E835E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32" y="2291656"/>
            <a:ext cx="3517119" cy="226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5FC75E5E-DB33-BB09-4D11-537014BD8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0676" y="2634446"/>
            <a:ext cx="3537345" cy="158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08E94AF8-0363-3669-3AE4-3162D768A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2336" y="2555441"/>
            <a:ext cx="3517120" cy="174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092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831BE-9BE1-849E-81C7-8EAE36C2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2D8A0EE-B58B-AC4B-271D-0AC5254040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65966B8-1692-EFD2-3906-105C0170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3" y="465137"/>
            <a:ext cx="8001203" cy="1340615"/>
          </a:xfrm>
        </p:spPr>
        <p:txBody>
          <a:bodyPr/>
          <a:lstStyle/>
          <a:p>
            <a:r>
              <a:rPr lang="en-US" sz="3600" dirty="0"/>
              <a:t>Modeling Approach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A075-F66A-31B8-8793-AD874D14FA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9117249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Models: </a:t>
            </a:r>
            <a:r>
              <a:rPr lang="en-US" sz="1400" dirty="0"/>
              <a:t>We trained three models: Logistic Regression (interpretable baseline), Random Forest (robust non-linear ensemble), and </a:t>
            </a:r>
            <a:r>
              <a:rPr lang="en-US" sz="1400" dirty="0" err="1"/>
              <a:t>XGBoost</a:t>
            </a:r>
            <a:r>
              <a:rPr lang="en-US" sz="1400" dirty="0"/>
              <a:t> (gradient-boosted trees).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Preprocessing: </a:t>
            </a:r>
            <a:r>
              <a:rPr lang="en-US" sz="1400" dirty="0"/>
              <a:t>All numeric features were scaled (</a:t>
            </a:r>
            <a:r>
              <a:rPr lang="en-US" sz="1400" dirty="0" err="1"/>
              <a:t>MinMaxScaler</a:t>
            </a:r>
            <a:r>
              <a:rPr lang="en-US" sz="1400" dirty="0"/>
              <a:t>); categorical features (brand, category, high-frequency chemicals) were one-hot encoded. After preprocessing, the feature matrix had 250+ columns (including chemical count and CAS metrics).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Training: </a:t>
            </a:r>
            <a:r>
              <a:rPr lang="en-US" sz="1400" dirty="0"/>
              <a:t>Used an 80/20 stratified train/test split to preserve the active/discontinued ratio. Models were tuned via 3-fold cross-validation, optimizing Precision–Recall AUC (PR-AUC) due to the rare positive class. Logistic regression used L2 regularization and class weights; ensembles were tuned over </a:t>
            </a:r>
            <a:r>
              <a:rPr lang="en-US" sz="1400" dirty="0" err="1"/>
              <a:t>n_estimators</a:t>
            </a:r>
            <a:r>
              <a:rPr lang="en-US" sz="1400" dirty="0"/>
              <a:t>, depth, etc., for best F1/PR-AUC.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Interpretability: </a:t>
            </a:r>
            <a:r>
              <a:rPr lang="en-US" sz="1400" dirty="0"/>
              <a:t>We applied SHAP (</a:t>
            </a:r>
            <a:r>
              <a:rPr lang="en-US" sz="1400" dirty="0" err="1"/>
              <a:t>SHapley</a:t>
            </a:r>
            <a:r>
              <a:rPr lang="en-US" sz="1400" dirty="0"/>
              <a:t> Additive </a:t>
            </a:r>
            <a:r>
              <a:rPr lang="en-US" sz="1400" dirty="0" err="1"/>
              <a:t>exPlanations</a:t>
            </a:r>
            <a:r>
              <a:rPr lang="en-US" sz="1400" dirty="0"/>
              <a:t>) to the Random Forest and </a:t>
            </a:r>
            <a:r>
              <a:rPr lang="en-US" sz="1400" dirty="0" err="1"/>
              <a:t>XGBoost</a:t>
            </a:r>
            <a:r>
              <a:rPr lang="en-US" sz="1400" dirty="0"/>
              <a:t> models to quantify each feature’s contribution to the discontinuation risk. This ensured the “why” behind predictions is accessible.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49EB674E-8AFE-2CD5-93A3-EC46409D1C5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83CA52B-1D82-E2B1-8C93-FF7F93578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2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5F372-2F7B-E43A-70E6-16A0AECF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3A74DA3-15D7-42A4-A747-0385855107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EB1964-8FD9-F4CD-A225-FD439140D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3" y="465137"/>
            <a:ext cx="8001203" cy="1340615"/>
          </a:xfrm>
        </p:spPr>
        <p:txBody>
          <a:bodyPr/>
          <a:lstStyle/>
          <a:p>
            <a:r>
              <a:rPr lang="en-US" sz="3600" dirty="0"/>
              <a:t>Model Performance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5373-4E15-2989-01F1-A9968385B1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862477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Random Forest: ROC-AUC ≈ 0.993, PR-AUC ≈ 0.963, F1 ≈ 0.907.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XGBoost</a:t>
            </a:r>
            <a:r>
              <a:rPr lang="en-US" sz="1400" dirty="0"/>
              <a:t>: ROC-AUC ≈ 0.992, PR-AUC ≈ 0.959, F1 ≈ 0.898.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Logistic Regression: ROC-AUC ≈ 0.883, PR-AUC ≈ 0.415 (used as a baseline for comparison).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ensemble models achieved near-perfect discrimination on test data, far exceeding the baseline. This confirms product discontinuation is highly predictable from the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models met the success criteria (AUC ~0.99), demonstrating strong predictive reliability. We selected </a:t>
            </a:r>
            <a:r>
              <a:rPr lang="en-US" sz="1400" dirty="0" err="1"/>
              <a:t>XGBoost</a:t>
            </a:r>
            <a:r>
              <a:rPr lang="en-US" sz="1400" dirty="0"/>
              <a:t> as the final model for further analysis due to its high accuracy and ability to be interpreted via SHAP.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FCC5658-8FE8-B5AA-0F2C-03F60D1FB1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805CEFB9-E09C-C837-9E58-D961EAB91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4C080B63-97D8-2D1E-AA0D-03CA034FF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200" y="2336827"/>
            <a:ext cx="3746500" cy="31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299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0C44D-5560-C7F4-4D8D-3D6A4603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F88620-7DB9-A5A9-7A36-0414FDAD7A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E8CC1B-6B1D-3C62-7611-7787070D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Discontinuation Drivers </a:t>
            </a:r>
            <a:br>
              <a:rPr lang="en-US" sz="3600" dirty="0"/>
            </a:br>
            <a:r>
              <a:rPr lang="en-US" sz="3600" dirty="0"/>
              <a:t>(Research Study 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5C9B1-1612-6C05-5CD8-FAB768284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8382651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Key Findings: </a:t>
            </a:r>
            <a:r>
              <a:rPr lang="en-US" sz="1400" dirty="0"/>
              <a:t>Products with shorter market lifespans and fewer ingredients had significantly higher predicted discontinuation risk. High CAS frequency (i.e. presence of very common chemicals) also increased risk.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attributes had strong positive SHAP contributions in the model, suggesting formulas with ubiquitous or heavily-reported chemicals are more likely to be phased out.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Interpretation: </a:t>
            </a:r>
            <a:r>
              <a:rPr lang="en-US" sz="1400" dirty="0"/>
              <a:t>This implies that popular chemicals (e.g. older or mass-used additives) and products quickly replaced in the market tend to be discontinued, possibly due to evolving safety/regulatory pressures.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2F1F18C-FB26-F3F8-8067-89D45804BB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7D1001B7-8310-1CBF-6384-21CD55B97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47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7EDD9-120D-8BD0-66E9-F8AEAF2E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14BB79C-A3C1-7399-033E-A6B2BA184A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3A87BF2-616B-E403-8B3C-21A66E56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Brand &amp; Category Safety Index</a:t>
            </a:r>
            <a:br>
              <a:rPr lang="en-US" sz="3600" dirty="0"/>
            </a:br>
            <a:r>
              <a:rPr lang="en-US" sz="3600" dirty="0"/>
              <a:t>(Research Study II)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271F9-349B-607E-E649-0A8CC645E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918233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Approach: </a:t>
            </a:r>
            <a:r>
              <a:rPr lang="en-US" sz="1400" dirty="0"/>
              <a:t>We aggregated SHAP values by brand and by product category to create a Safety Index of “adjusted risk”. This neutralizes raw discontinuation rates by controlling for chemistry/time factors.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Findings: </a:t>
            </a:r>
            <a:r>
              <a:rPr lang="en-US" sz="1400" dirty="0"/>
              <a:t>Among categories, Makeup (non-permanent) and Nail products had the highest adjusted risk scores, while Skin Care and Baby products had the lowest.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Top Brands: </a:t>
            </a:r>
            <a:r>
              <a:rPr lang="en-US" sz="1400" dirty="0"/>
              <a:t>Certain brands (e.g. </a:t>
            </a:r>
            <a:r>
              <a:rPr lang="en-US" sz="1400" dirty="0" err="1"/>
              <a:t>Mastercuts</a:t>
            </a:r>
            <a:r>
              <a:rPr lang="en-US" sz="1400" dirty="0"/>
              <a:t>, Regis Design Line, Careline) showed consistently elevated risk profiles, reflecting more complex or harder-to-formulate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Business Value: </a:t>
            </a:r>
            <a:r>
              <a:rPr lang="en-US" sz="1400" dirty="0"/>
              <a:t>The Safety Index provides a quantitative benchmark for brand managers and regulators to monitor portfolio risk and compare across industry peers.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7E53226-90CC-9EAB-6BC1-FC86DFDC969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D459472A-509F-F4B3-3C53-D464196F5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A3AA588A-11DC-DF95-A26C-F504BE566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1644675"/>
            <a:ext cx="4120795" cy="255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3" name="Picture 5">
            <a:extLst>
              <a:ext uri="{FF2B5EF4-FFF2-40B4-BE49-F238E27FC236}">
                <a16:creationId xmlns:a16="http://schemas.microsoft.com/office/drawing/2014/main" id="{3C34B1A9-8272-CFFF-1513-62C78ED0A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4236188"/>
            <a:ext cx="4098512" cy="254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76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209E5-DD91-10EF-ED32-095DA7E9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EBC147A-8F13-0101-426F-73BCCAAE6B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E48D1FA-1025-A548-F483-132801AF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Brand &amp; Category Safety Index</a:t>
            </a:r>
            <a:br>
              <a:rPr lang="en-US" sz="3600" dirty="0"/>
            </a:br>
            <a:r>
              <a:rPr lang="en-US" sz="3600" dirty="0"/>
              <a:t>(Research Study II)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C5CF-C1E4-A1AC-5E31-58ABE537E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918233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Approach: </a:t>
            </a:r>
            <a:r>
              <a:rPr lang="en-US" sz="1400" dirty="0"/>
              <a:t>We aggregated SHAP values by brand and by product category to create a Safety Index of “adjusted risk”. This neutralizes raw discontinuation rates by controlling for chemistry/time factors.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Findings: </a:t>
            </a:r>
            <a:r>
              <a:rPr lang="en-US" sz="1400" dirty="0"/>
              <a:t>Among categories, Makeup (non-permanent) and Nail products had the highest adjusted risk scores, while Skin Care and Baby products had the lowest.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Top Brands: </a:t>
            </a:r>
            <a:r>
              <a:rPr lang="en-US" sz="1400" dirty="0"/>
              <a:t>Certain brands (e.g. </a:t>
            </a:r>
            <a:r>
              <a:rPr lang="en-US" sz="1400" dirty="0" err="1"/>
              <a:t>Mastercuts</a:t>
            </a:r>
            <a:r>
              <a:rPr lang="en-US" sz="1400" dirty="0"/>
              <a:t>, Regis Design Line, Careline) showed consistently elevated risk profiles, reflecting more complex or harder-to-formulate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Business Value: </a:t>
            </a:r>
            <a:r>
              <a:rPr lang="en-US" sz="1400" dirty="0"/>
              <a:t>The Safety Index provides a quantitative benchmark for brand managers and regulators to monitor portfolio risk and compare across industry peers.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44A6135F-C615-30CC-F293-6EC2E6D7F7D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D95AD50-7F60-F126-3670-9583F6742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52D283AC-E8B6-7641-31D3-0F4C9B5EF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1644675"/>
            <a:ext cx="4120795" cy="255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3" name="Picture 5">
            <a:extLst>
              <a:ext uri="{FF2B5EF4-FFF2-40B4-BE49-F238E27FC236}">
                <a16:creationId xmlns:a16="http://schemas.microsoft.com/office/drawing/2014/main" id="{29CD7E37-A6BC-3CF3-69DF-FCADE7D9D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4236188"/>
            <a:ext cx="4098512" cy="254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96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24610-E7A7-B9A6-4648-0FC13E8C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4D2C1B5-3736-B28A-31E9-C2718B8999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69B40D5-9428-1772-D757-62A049E0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Chemical &amp; CAS-Level Risk</a:t>
            </a:r>
            <a:br>
              <a:rPr lang="en-US" sz="3600" dirty="0"/>
            </a:br>
            <a:r>
              <a:rPr lang="en-US" sz="3600" dirty="0"/>
              <a:t>(Research Study III)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FD19-E9A1-C257-18F1-7374EF2C0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918233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Dominant Chemicals: SHAP feature importance highlighted a small set of chemicals that heavily drive discontinuation probability. The top contributors were Titanium Dioxide, Talc, Carbon Black, and Butylated Hydroxyanisole (BHA). These align with known toxicological/regulatory concerns.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CAS Features: Chemicals with high global usage frequency and those present across multiple brands or categories (high </a:t>
            </a:r>
            <a:r>
              <a:rPr lang="en-US" sz="1400" dirty="0" err="1"/>
              <a:t>CAS_Global_Freq</a:t>
            </a:r>
            <a:r>
              <a:rPr lang="en-US" sz="1400" dirty="0"/>
              <a:t>, </a:t>
            </a:r>
            <a:r>
              <a:rPr lang="en-US" sz="1400" dirty="0" err="1"/>
              <a:t>CAS_Brand_Unique</a:t>
            </a:r>
            <a:r>
              <a:rPr lang="en-US" sz="1400" dirty="0"/>
              <a:t>, etc.) tended to raise risk. In other words, widely-used or cross-brand chemicals are more prone to phase-out.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Implication: These insights allow stakeholders to flag specific ingredients for further safety review or reformulation.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7F66D805-FE98-34C6-A559-2A477E3E74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09FE46DE-767E-5C29-8E96-B42CFA67D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9461" name="Picture 5">
            <a:extLst>
              <a:ext uri="{FF2B5EF4-FFF2-40B4-BE49-F238E27FC236}">
                <a16:creationId xmlns:a16="http://schemas.microsoft.com/office/drawing/2014/main" id="{49D97E1C-3FF4-95FF-BF3D-D0A8CCB13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861" y="4763096"/>
            <a:ext cx="4037650" cy="130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3" name="Picture 7">
            <a:extLst>
              <a:ext uri="{FF2B5EF4-FFF2-40B4-BE49-F238E27FC236}">
                <a16:creationId xmlns:a16="http://schemas.microsoft.com/office/drawing/2014/main" id="{84B0BD16-6431-996B-4F5D-06A64C64B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860" y="1991359"/>
            <a:ext cx="4037649" cy="250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953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484D8-73C4-0F64-3E0E-95BB3597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0D6DA8-09B9-90D1-F1EB-A46CE8947A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61AE659-791C-B57C-7140-C54CDD07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Model Interpretability (SHAP Insights)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D36C5-EDE3-3443-3B96-925CE6E905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9" y="1904307"/>
            <a:ext cx="5218432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Using SHAP analysis, we can decompose each model prediction into feature contributions (e.g. how much </a:t>
            </a:r>
            <a:r>
              <a:rPr lang="en-US" sz="1400" dirty="0" err="1"/>
              <a:t>ChemicalCount</a:t>
            </a:r>
            <a:r>
              <a:rPr lang="en-US" sz="1400" dirty="0"/>
              <a:t>, </a:t>
            </a:r>
            <a:r>
              <a:rPr lang="en-US" sz="1400" dirty="0" err="1"/>
              <a:t>ProductAgeDays</a:t>
            </a:r>
            <a:r>
              <a:rPr lang="en-US" sz="1400" dirty="0"/>
              <a:t>, or a particular ingredient drives the score).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transparency turns the “black box” model into actionable information: for a flagged product, we can say exactly which ingredient or property is raising its discontinuation risk.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Such interpretability builds trust with stakeholders (e.g. regulatory auditors) and satisfies the project goal of clear, explainable results.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3A0E143-33D9-021D-9BFD-A39AD4CAECC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0CA7E36-3EB1-D5C9-3A3D-B899AFA76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1507" name="Picture 3">
            <a:extLst>
              <a:ext uri="{FF2B5EF4-FFF2-40B4-BE49-F238E27FC236}">
                <a16:creationId xmlns:a16="http://schemas.microsoft.com/office/drawing/2014/main" id="{A6A47C75-0CEE-E0BC-842F-4DB14AE2E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561" y="2396726"/>
            <a:ext cx="4832220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644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5F1A7-F087-C494-D6C9-B3C58DD8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B74030-F643-7655-0D3C-1EEF9C4DDE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620717-505B-CA15-08F6-33E245DD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Stakeholder Recommendations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9A35-57C8-F09E-54D0-2AD3F59156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10003791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Manufacturers: </a:t>
            </a:r>
            <a:r>
              <a:rPr lang="en-US" sz="1400" dirty="0"/>
              <a:t>Use the model as an early-warning system – flag products with high predicted risk and proactively reformulate to eliminate problematic ingredients. Incorporate the Safety Index into quality control to monitor emerging risks.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Regulators: </a:t>
            </a:r>
            <a:r>
              <a:rPr lang="en-US" sz="1400" dirty="0"/>
              <a:t>Leverage the Brand &amp; Category Safety Index to monitor market segments and prioritize inspections. Focus regulatory updates on ingredient classes repeatedly linked to discontinuation in the model.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Brand Managers: </a:t>
            </a:r>
            <a:r>
              <a:rPr lang="en-US" sz="1400" dirty="0"/>
              <a:t>Benchmark product portfolios using the Safety Index and track risk trends over time. Use these insights for strategic planning (e.g. align R&amp;D with safety trends). Consumers &amp; Public Health: Publicize the model’s findings on high-risk ingredients and categories to increase transparency. Encourage “clean-beauty” innovation by highlighting which ingredients raise safety concerns.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Ongoing Analytics: </a:t>
            </a:r>
            <a:r>
              <a:rPr lang="en-US" sz="1400" dirty="0"/>
              <a:t>Deploy the </a:t>
            </a:r>
            <a:r>
              <a:rPr lang="en-US" sz="1400" dirty="0" err="1"/>
              <a:t>XGBoost</a:t>
            </a:r>
            <a:r>
              <a:rPr lang="en-US" sz="1400" dirty="0"/>
              <a:t> model in a batch pipeline that is retrained periodically. Update dashboards (brand/category/chemical risk) with each new CSCP release to enable continuous monitoring (see Deployment plan).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5D24B35D-0A2F-3B1F-EC54-CB64CC34F5B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7F895B58-A9C7-DF75-EE1E-461D70B01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0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72AEA8-ECE9-19CD-9A2B-B204850D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76C4C1B-583C-BCA7-9EBE-3C86B257B1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2D5CB3B-5C2E-8BF0-25B2-882C74880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Conclusion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A658-9FFA-A396-81C9-3A6930692F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10003791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project successfully built an accurate, interpretable ML framework for predicting cosmetic product discontinuation (achieving ROC-AUC ≈ 0.99).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Deliverables include the Brand &amp; Category Safety Index and a Chemical Risk ranking, which together pinpoint products and ingredients of concern.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tools provide manufacturers, regulators, and consumers with actionable intelligence to improve product safety, compliance, and transparency.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essence, we have turned regulatory data into a data-driven foundation for a safer, more responsible cosmetics industry.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6601C4D0-598D-4F67-8B33-718EF605E55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83EDB13-BC5A-8498-427C-DE9F1A438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38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A6400-66DD-5DD3-80CE-65604C686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65818F2-869C-F9AB-303B-0F9A31B4B8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C792D60-33E1-DB14-8E0B-7254B138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Next Steps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A3C6-C393-7282-F3D2-BB15B5AA5C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10003791" cy="4663762"/>
          </a:xfrm>
        </p:spPr>
        <p:txBody>
          <a:bodyPr>
            <a:no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Enhance Data: </a:t>
            </a:r>
            <a:r>
              <a:rPr lang="en-US" sz="1400" dirty="0"/>
              <a:t>Incorporate external data (e.g. toxicology databases, sales/market trends, recall information) to refine predictions and contextualize discontinuation reasons.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Extend Safety Index: </a:t>
            </a:r>
            <a:r>
              <a:rPr lang="en-US" sz="1400" dirty="0"/>
              <a:t>Build an interactive dashboard that updates the Brand &amp; Category Safety Index with each CSCP data release, enabling real-time monitoring of industry trends.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Advanced Modeling: </a:t>
            </a:r>
            <a:r>
              <a:rPr lang="en-US" sz="1400" dirty="0"/>
              <a:t>Experiment with time-series or survival models to predict when discontinuations may occur and to distinguish between safety vs. commercial reasons. Test the model on other states or countries’ datasets to validate generalizability.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Transparency &amp; Governance: </a:t>
            </a:r>
            <a:r>
              <a:rPr lang="en-US" sz="1400" dirty="0"/>
              <a:t>Formalize the SHAP explanations into an audit trail for compliance. Document all modeling steps for reproducibility and include explainability audits in the regulatory process.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D33CF3D-1862-9F18-5B52-EBE37E60C84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6CEF3BF-EE8A-D27C-FF24-7CD5627EC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60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4C1777-B62D-468E-BE34-64A07CED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976319-4513-485C-AD3A-E56C39927A3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88</TotalTime>
  <Words>1849</Words>
  <Application>Microsoft Macintosh PowerPoint</Application>
  <PresentationFormat>Widescreen</PresentationFormat>
  <Paragraphs>134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Biome Light</vt:lpstr>
      <vt:lpstr>Calibri</vt:lpstr>
      <vt:lpstr>Courier New</vt:lpstr>
      <vt:lpstr>Times New Roman</vt:lpstr>
      <vt:lpstr>Office Theme</vt:lpstr>
      <vt:lpstr>Predicting Cosmetic Product Discontinuation: Machine Learning Analysis of the CSCP Dataset </vt:lpstr>
      <vt:lpstr>Agenda</vt:lpstr>
      <vt:lpstr>Business Context &amp; Problem</vt:lpstr>
      <vt:lpstr>Objectives &amp; Success Criteria</vt:lpstr>
      <vt:lpstr>CSCP Data Overview</vt:lpstr>
      <vt:lpstr>Data Exploration &amp; Cleaning</vt:lpstr>
      <vt:lpstr>PowerPoint Presentation</vt:lpstr>
      <vt:lpstr>Modeling Approach</vt:lpstr>
      <vt:lpstr>Model Performance</vt:lpstr>
      <vt:lpstr>Discontinuation Drivers  (Research Study I)</vt:lpstr>
      <vt:lpstr>Brand &amp; Category Safety Index (Research Study II)</vt:lpstr>
      <vt:lpstr>Brand &amp; Category Safety Index (Research Study II)</vt:lpstr>
      <vt:lpstr>Chemical &amp; CAS-Level Risk (Research Study III)</vt:lpstr>
      <vt:lpstr>Model Interpretability (SHAP Insights)</vt:lpstr>
      <vt:lpstr>Stakeholder Recommendations</vt:lpstr>
      <vt:lpstr>Conclusion</vt:lpstr>
      <vt:lpstr>Next Steps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Akula, Akhila</dc:creator>
  <cp:lastModifiedBy>Dara, Neharika</cp:lastModifiedBy>
  <cp:revision>5</cp:revision>
  <dcterms:created xsi:type="dcterms:W3CDTF">2025-11-23T19:47:59Z</dcterms:created>
  <dcterms:modified xsi:type="dcterms:W3CDTF">2025-12-19T23:16:28Z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